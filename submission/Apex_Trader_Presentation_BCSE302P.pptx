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54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APEX TRADER</a:t>
            </a:r>
          </a:p>
          <a:p>
            <a:pPr algn="l">
              <a:spcAft>
                <a:spcPts val="300"/>
              </a:spcAft>
            </a:pPr>
            <a:r>
              <a:rPr sz="2100" b="0" i="0">
                <a:solidFill>
                  <a:srgbClr val="FFFFFF"/>
                </a:solidFill>
                <a:latin typeface="Calibri"/>
              </a:rPr>
              <a:t>A Stock and Cryptocurrency Trading Database Management System</a:t>
            </a:r>
          </a:p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CFE0FF"/>
                </a:solidFill>
                <a:latin typeface="Calibri"/>
              </a:rPr>
              <a:t>with an In-Database Matching Engine and a Double-Entry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60350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1F6FEB"/>
                </a:solidFill>
                <a:latin typeface="Calibri"/>
              </a:rPr>
              <a:t>BCSE302P  —  Database Systems Lab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Submitted by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2332"/>
                </a:solidFill>
                <a:latin typeface="Calibri"/>
              </a:rPr>
              <a:t>24BCE2863   </a:t>
            </a:r>
            <a:r>
              <a:rPr sz="1600">
                <a:solidFill>
                  <a:srgbClr val="5A6676"/>
                </a:solidFill>
                <a:latin typeface="Calibri"/>
              </a:rPr>
              <a:t>Kumar Paritosh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2332"/>
                </a:solidFill>
                <a:latin typeface="Calibri"/>
              </a:rPr>
              <a:t>24BCE2865   </a:t>
            </a:r>
            <a:r>
              <a:rPr sz="1600">
                <a:solidFill>
                  <a:srgbClr val="5A6676"/>
                </a:solidFill>
                <a:latin typeface="Calibri"/>
              </a:rPr>
              <a:t>Samrender Singh Saini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A2332"/>
                </a:solidFill>
                <a:latin typeface="Calibri"/>
              </a:rPr>
              <a:t>24BCE2886   </a:t>
            </a:r>
            <a:r>
              <a:rPr sz="1600">
                <a:solidFill>
                  <a:srgbClr val="5A6676"/>
                </a:solidFill>
                <a:latin typeface="Calibri"/>
              </a:rPr>
              <a:t>Vartika Chaudhary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3520440"/>
            <a:ext cx="42062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Under the guidance of</a:t>
            </a:r>
          </a:p>
          <a:p>
            <a:pPr algn="l">
              <a:spcAft>
                <a:spcPts val="1600"/>
              </a:spcAft>
            </a:pPr>
            <a:r>
              <a:rPr sz="2000" b="1" i="0">
                <a:solidFill>
                  <a:srgbClr val="1A2332"/>
                </a:solidFill>
                <a:latin typeface="Calibri"/>
              </a:rPr>
              <a:t>Prof. Nithya N S</a:t>
            </a:r>
          </a:p>
          <a:p>
            <a:pPr algn="l">
              <a:spcAft>
                <a:spcPts val="300"/>
              </a:spcAft>
            </a:pPr>
            <a:r>
              <a:rPr sz="1350" b="0" i="0">
                <a:solidFill>
                  <a:srgbClr val="5A6676"/>
                </a:solidFill>
                <a:latin typeface="Calibri"/>
              </a:rPr>
              <a:t>School of Computer Science and Engineering</a:t>
            </a:r>
          </a:p>
          <a:p>
            <a:pPr algn="l">
              <a:spcAft>
                <a:spcPts val="1400"/>
              </a:spcAft>
            </a:pPr>
            <a:r>
              <a:rPr sz="1350" b="0" i="0">
                <a:solidFill>
                  <a:srgbClr val="5A6676"/>
                </a:solidFill>
                <a:latin typeface="Calibri"/>
              </a:rPr>
              <a:t>Vellore Institute of Technology, Vellore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6FEB"/>
                </a:solidFill>
                <a:latin typeface="Calibri"/>
              </a:rPr>
              <a:t>PostgreSQL 16  ·  Python 3.13  · 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6263640"/>
            <a:ext cx="10515600" cy="2540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alibri"/>
              </a:rPr>
              <a:t>38 tables  ·  84 routines  ·  24 RLS policies  ·  150 SQL assertions  ·  118 API checks  ·  51 browser checks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The guideline sequence, with the evidence for each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3584448" cy="40233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7" y="1572768"/>
            <a:ext cx="3017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1F6FEB"/>
                </a:solidFill>
                <a:latin typeface="Calibri"/>
              </a:rPr>
              <a:t>Design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Abstract and problem statement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Objectives and scope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System architecture and workflow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ER diagram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Relational schema and normalization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325880"/>
            <a:ext cx="3584448" cy="40233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08576" y="1572768"/>
            <a:ext cx="3017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1F6FEB"/>
                </a:solidFill>
                <a:latin typeface="Calibri"/>
              </a:rPr>
              <a:t>Implementation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CREATE TABLE and constraints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Sample data and volumes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SQL queries and their outputs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The order round trip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Operations the database refuses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325880"/>
            <a:ext cx="3584448" cy="40233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75904" y="1572768"/>
            <a:ext cx="30175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900" b="1" i="0">
                <a:solidFill>
                  <a:srgbClr val="1F6FEB"/>
                </a:solidFill>
                <a:latin typeface="Calibri"/>
              </a:rPr>
              <a:t>Advanced + proof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Procedures, triggers, views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Transaction control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Row Level Security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Partitioning and indexing</a:t>
            </a:r>
          </a:p>
          <a:p>
            <a:pPr algn="l">
              <a:spcAft>
                <a:spcPts val="1100"/>
              </a:spcAft>
            </a:pPr>
            <a:r>
              <a:rPr sz="1450" b="0" i="0">
                <a:solidFill>
                  <a:srgbClr val="1A2332"/>
                </a:solidFill>
                <a:latin typeface="Calibri"/>
              </a:rPr>
              <a:t>•  Surveillance, screenshots,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577840"/>
            <a:ext cx="11091672" cy="86868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578815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0B2B5B"/>
                </a:solidFill>
                <a:latin typeface="Calibri"/>
              </a:rPr>
              <a:t>Every output in this deck is a captured transcript from the running database. Nothing on the following slides was typed by hand.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Abstract and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50" b="0" i="0">
                <a:solidFill>
                  <a:srgbClr val="1A2332"/>
                </a:solidFill>
                <a:latin typeface="Calibri"/>
              </a:rPr>
              <a:t>Apex Trader is a database management system for a stock and cryptocurrency trading venue. The limit order book is a relation, matching is a stored procedure, settlement is a journal entry, and all three execute inside one database transaction. The database is the exchange — not a store behind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5440680" cy="33832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2944368"/>
            <a:ext cx="48920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B9770E"/>
                </a:solidFill>
                <a:latin typeface="Calibri"/>
              </a:rPr>
              <a:t>The problem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Who owns what, at what price it changed hands, and whether the trade was allowed are three answers that depend on each other.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They must all hold while many users trade on the same instrument at once.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Risk in Python, matching in Python, then writing balances cannot be made atomic without a global lock or a distributed transaction.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A stored balance can silently diverge from the history that produced it, and nothing in the schema says 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743200"/>
            <a:ext cx="5440680" cy="33832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73952" y="2944368"/>
            <a:ext cx="489204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E7C55"/>
                </a:solidFill>
                <a:latin typeface="Calibri"/>
              </a:rPr>
              <a:t>The approach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Matching, settlement and risk run in ONE transaction, in PL/pgSQL.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No balance is stored. Every balance is derived from an append-only double-entry journal.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A DEFERRABLE INITIALLY DEFERRED constraint verifies at COMMIT that each entry sums to zero, so value can move but never be created.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Tenant isolation by Row Level Security, not by remembering a WHERE clause.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Eight objectives, and how each was realised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642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1" i="0">
                <a:solidFill>
                  <a:srgbClr val="1A2332"/>
                </a:solidFill>
                <a:latin typeface="Calibri"/>
              </a:rPr>
              <a:t>Model a complete trading venue relationally  </a:t>
            </a:r>
            <a:r>
              <a:rPr sz="1550">
                <a:solidFill>
                  <a:srgbClr val="5A6676"/>
                </a:solidFill>
                <a:latin typeface="Calibri"/>
              </a:rPr>
              <a:t>— 38 base tables in BCNF across 12 bounded-context schemas</a:t>
            </a:r>
          </a:p>
          <a:p>
            <a:pPr algn="l">
              <a:spcAft>
                <a:spcPts val="1000"/>
              </a:spcAft>
            </a:pPr>
            <a:r>
              <a:rPr sz="1550" b="1" i="0">
                <a:solidFill>
                  <a:srgbClr val="1A2332"/>
                </a:solidFill>
                <a:latin typeface="Calibri"/>
              </a:rPr>
              <a:t>Implement order matching inside the database  </a:t>
            </a:r>
            <a:r>
              <a:rPr sz="1550">
                <a:solidFill>
                  <a:srgbClr val="5A6676"/>
                </a:solidFill>
                <a:latin typeface="Calibri"/>
              </a:rPr>
              <a:t>— price-time priority, 6 order types, 4 time-in-force policies</a:t>
            </a:r>
          </a:p>
          <a:p>
            <a:pPr algn="l">
              <a:spcAft>
                <a:spcPts val="1000"/>
              </a:spcAft>
            </a:pPr>
            <a:r>
              <a:rPr sz="1550" b="1" i="0">
                <a:solidFill>
                  <a:srgbClr val="1A2332"/>
                </a:solidFill>
                <a:latin typeface="Calibri"/>
              </a:rPr>
              <a:t>Guarantee accounting integrity by construction  </a:t>
            </a:r>
            <a:r>
              <a:rPr sz="1550">
                <a:solidFill>
                  <a:srgbClr val="5A6676"/>
                </a:solidFill>
                <a:latin typeface="Calibri"/>
              </a:rPr>
              <a:t>— append-only journal, derived balances, deferred zero-sum constraint</a:t>
            </a:r>
          </a:p>
          <a:p>
            <a:pPr algn="l">
              <a:spcAft>
                <a:spcPts val="1000"/>
              </a:spcAft>
            </a:pPr>
            <a:r>
              <a:rPr sz="1550" b="1" i="0">
                <a:solidFill>
                  <a:srgbClr val="1A2332"/>
                </a:solidFill>
                <a:latin typeface="Calibri"/>
              </a:rPr>
              <a:t>Enforce risk before a trade, not after  </a:t>
            </a:r>
            <a:r>
              <a:rPr sz="1550">
                <a:solidFill>
                  <a:srgbClr val="5A6676"/>
                </a:solidFill>
                <a:latin typeface="Calibri"/>
              </a:rPr>
              <a:t>— a pre-trade gate that runs inside the order transaction</a:t>
            </a:r>
          </a:p>
          <a:p>
            <a:pPr algn="l">
              <a:spcAft>
                <a:spcPts val="1000"/>
              </a:spcAft>
            </a:pPr>
            <a:r>
              <a:rPr sz="1550" b="1" i="0">
                <a:solidFill>
                  <a:srgbClr val="1A2332"/>
                </a:solidFill>
                <a:latin typeface="Calibri"/>
              </a:rPr>
              <a:t>Isolate tenants in the database layer  </a:t>
            </a:r>
            <a:r>
              <a:rPr sz="1550">
                <a:solidFill>
                  <a:srgbClr val="5A6676"/>
                </a:solidFill>
                <a:latin typeface="Calibri"/>
              </a:rPr>
              <a:t>— 24 Row Level Security policies over 16 tables</a:t>
            </a:r>
          </a:p>
          <a:p>
            <a:pPr algn="l">
              <a:spcAft>
                <a:spcPts val="1000"/>
              </a:spcAft>
            </a:pPr>
            <a:r>
              <a:rPr sz="1550" b="1" i="0">
                <a:solidFill>
                  <a:srgbClr val="1A2332"/>
                </a:solidFill>
                <a:latin typeface="Calibri"/>
              </a:rPr>
              <a:t>Detect market abuse using analytical SQL  </a:t>
            </a:r>
            <a:r>
              <a:rPr sz="1550">
                <a:solidFill>
                  <a:srgbClr val="5A6676"/>
                </a:solidFill>
                <a:latin typeface="Calibri"/>
              </a:rPr>
              <a:t>— wash trading, spoofing, momentum ignition, volume anomaly</a:t>
            </a:r>
          </a:p>
          <a:p>
            <a:pPr algn="l">
              <a:spcAft>
                <a:spcPts val="1000"/>
              </a:spcAft>
            </a:pPr>
            <a:r>
              <a:rPr sz="1550" b="1" i="0">
                <a:solidFill>
                  <a:srgbClr val="1A2332"/>
                </a:solidFill>
                <a:latin typeface="Calibri"/>
              </a:rPr>
              <a:t>Support multiple currencies without loss of integrity  </a:t>
            </a:r>
            <a:r>
              <a:rPr sz="1550">
                <a:solidFill>
                  <a:srgbClr val="5A6676"/>
                </a:solidFill>
                <a:latin typeface="Calibri"/>
              </a:rPr>
              <a:t>— 10 currencies, conversion is a four-legged journal entry</a:t>
            </a:r>
          </a:p>
          <a:p>
            <a:pPr algn="l">
              <a:spcAft>
                <a:spcPts val="1000"/>
              </a:spcAft>
            </a:pPr>
            <a:r>
              <a:rPr sz="1550" b="1" i="0">
                <a:solidFill>
                  <a:srgbClr val="1A2332"/>
                </a:solidFill>
                <a:latin typeface="Calibri"/>
              </a:rPr>
              <a:t>Demonstrate correctness rather than assert it  </a:t>
            </a:r>
            <a:r>
              <a:rPr sz="1550">
                <a:solidFill>
                  <a:srgbClr val="5A6676"/>
                </a:solidFill>
                <a:latin typeface="Calibri"/>
              </a:rPr>
              <a:t>— 150 SQL assertions, 118 API checks, 51 browser checks, 18 invariants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F6FEB"/>
                </a:solidFill>
                <a:latin typeface="Calibri"/>
              </a:rPr>
              <a:t>Scope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1F6FEB"/>
                </a:solidFill>
                <a:latin typeface="Calibri"/>
              </a:rPr>
              <a:t>38 + 30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tables + partitions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9696" y="512064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1F6FEB"/>
                </a:solidFill>
                <a:latin typeface="Calibri"/>
              </a:rPr>
              <a:t>84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routines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512064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1F6FEB"/>
                </a:solidFill>
                <a:latin typeface="Calibri"/>
              </a:rPr>
              <a:t>20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triggers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7" y="512064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1F6FEB"/>
                </a:solidFill>
                <a:latin typeface="Calibri"/>
              </a:rPr>
              <a:t>12 + 2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views + matviews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2864" y="512064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1F6FEB"/>
                </a:solidFill>
                <a:latin typeface="Calibri"/>
              </a:rPr>
              <a:t>348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indexes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512064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1F6FEB"/>
                </a:solidFill>
                <a:latin typeface="Calibri"/>
              </a:rPr>
              <a:t>24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RLS policies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94976" y="512064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500" b="1" i="0">
                <a:solidFill>
                  <a:srgbClr val="1F6FEB"/>
                </a:solidFill>
                <a:latin typeface="Calibri"/>
              </a:rPr>
              <a:t>28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migrations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6144768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62910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0B2B5B"/>
                </a:solidFill>
                <a:latin typeface="Calibri"/>
              </a:rPr>
              <a:t>Two asset classes on one engine: equities and ETFs in a 390-minute session, eight crypto pairs trading 24×7. What differs is data on the instrument, not code in the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Scope and Delimitations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What the system does, and what it deliberately does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440680" cy="49377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435608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E7C55"/>
                </a:solidFill>
                <a:latin typeface="Calibri"/>
              </a:rPr>
              <a:t>In scope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Continuous auction with price-time priority on a per-instrument book.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Market, limit, stop, stop-limit, trailing-stop and iceberg orders.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DAY, GTC, IOC and FOK time-in-force policies.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Double-entry settlement with derived balances in 10 currencies.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Pre-trade risk: buying power, short-sale gate, notional cap, concentration, rate limit, daily loss, price band, halts.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Surveillance, audit trail, copy trading, watchlists and price alerts.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Minute bars, arbitrary chart intervals, and technical indicators in 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40680" cy="49377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73952" y="1435608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B9770E"/>
                </a:solidFill>
                <a:latin typeface="Calibri"/>
              </a:rPr>
              <a:t>Out of scope, and why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Opening and closing auctions — the session model supports them, but the auction algorithm is a separate piece of work.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Clearing-house interposition and T+1 settlement — the journal already carries occurred_at; a settlement date completes it.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Corporate actions applied to historical prices — modelled, not back-applied.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Options and futures — the ledger needs a third asset class.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Full order-book depth beyond top of book over the wire.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•  Replication and clustering — single-node by design for this submission.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Four tiers — and the business logic lives in exactly one of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686" y="1143000"/>
            <a:ext cx="8108321" cy="493776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2362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The service tier validates request shape and emits JSON. It calls one database function per write and contains no rule that could disagree with the database.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Workflow — the life of an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Seven stages, one transaction. Any failure unwinds all seven.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-order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53" y="1143000"/>
            <a:ext cx="9202189" cy="493776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23620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Stage 4 is the serialisation point and stage 7 is where the ledger invariant is checked. Between them, the engine may fill against many resting orders.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Database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Three capabilities on which the design depends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A2332"/>
                </a:solidFill>
                <a:latin typeface="Calibri"/>
              </a:rPr>
              <a:t>PostgreSQL 16. Version 15 is the minimum, and the reason is on this slide.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091672" cy="138988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 i="0">
                <a:solidFill>
                  <a:srgbClr val="1F6FEB"/>
                </a:solidFill>
                <a:latin typeface="Calibri"/>
              </a:rPr>
              <a:t>Deferrable constraint triggers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A6676"/>
                </a:solidFill>
                <a:latin typeface="Calibri"/>
              </a:rPr>
              <a:t>The legs of a journal entry are inserted one row at a time, so the entry is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A6676"/>
                </a:solidFill>
                <a:latin typeface="Calibri"/>
              </a:rPr>
              <a:t>legitimately unbalanced DURING the transaction. The check must run at COMMIT.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A6676"/>
                </a:solidFill>
                <a:latin typeface="Calibri"/>
              </a:rPr>
              <a:t>MySQL has no DEFERRABLE constraint, so the rule would move into application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A6676"/>
                </a:solidFill>
                <a:latin typeface="Calibri"/>
              </a:rPr>
              <a:t>code — precisely the place this design removes it from.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46704"/>
            <a:ext cx="11091672" cy="138988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3511296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 i="0">
                <a:solidFill>
                  <a:srgbClr val="1F6FEB"/>
                </a:solidFill>
                <a:latin typeface="Calibri"/>
              </a:rPr>
              <a:t>Row Level Security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A6676"/>
                </a:solidFill>
                <a:latin typeface="Calibri"/>
              </a:rPr>
              <a:t>Tenant isolation becomes a property of the data rather than of the queries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A6676"/>
                </a:solidFill>
                <a:latin typeface="Calibri"/>
              </a:rPr>
              <a:t>that read it. A query that omits its account predicate returns an empty set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A6676"/>
                </a:solidFill>
                <a:latin typeface="Calibri"/>
              </a:rPr>
              <a:t>instead of another trader’s rows. MySQL offers no equivalent.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64608"/>
            <a:ext cx="11091672" cy="138988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 i="0">
                <a:solidFill>
                  <a:srgbClr val="1F6FEB"/>
                </a:solidFill>
                <a:latin typeface="Calibri"/>
              </a:rPr>
              <a:t>NULLS NOT DISTINCT  (PostgreSQL 15+)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A6676"/>
                </a:solidFill>
                <a:latin typeface="Calibri"/>
              </a:rPr>
              <a:t>A cash balance has no instrument. Under standard SQL two NULLs are distinct,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A6676"/>
                </a:solidFill>
                <a:latin typeface="Calibri"/>
              </a:rPr>
              <a:t>so a conventional unique key would let one account hold two cash balances in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A6676"/>
                </a:solidFill>
                <a:latin typeface="Calibri"/>
              </a:rPr>
              <a:t>the same currency. This one clause sets the minimum version for the project.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108192"/>
            <a:ext cx="11091672" cy="612394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CREATE UNIQUE INDEX uq_balance_slot ON ledger.balance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   (account_id, asset_class, currency, instrument_id) NULLS NOT DISTINCT;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ER Diagram — core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PK primary key · AK alternate (unique) key · FK foreign 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878" y="1115568"/>
            <a:ext cx="7415938" cy="5029199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Twelve of the 38 base tables: the ones a reader must follow to see how an order becomes a settled position. The full catalog-generated ERD is docs/er-diagram.mmd.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Relational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Twelve bounded-context schemas, not one flat namespace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07008"/>
            <a:ext cx="11091672" cy="384048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28930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8930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Responsibility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8930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Representative objects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11091672" cy="3657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171907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7190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Users, credentials, sessions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190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app_user, user_session, login_attempt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0939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0939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Security master and calendars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9397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instrument, exchange, currency, fx_rate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395728"/>
            <a:ext cx="11091672" cy="3657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Market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tick, quote, candle_1m  (partitioned by month)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84378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trading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84378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Accounts, orders, fills, positions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4378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account, trade_order, execution, position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145536"/>
            <a:ext cx="11091672" cy="3657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32186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ledger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21868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The book of record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186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journal_entry, posting, 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593591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593591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Matching and settlement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593591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submit_order, match_order, settle_fill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895344"/>
            <a:ext cx="11091672" cy="3657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8680" y="39684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96849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Pre-trade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9684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pretrade_check, trading_halt, price_alert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343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surveil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343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Market-abuse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3434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rule, alert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645152"/>
            <a:ext cx="11091672" cy="3657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68680" y="471830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social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71830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Copy trading and watchlists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71830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strategy, copy_subscription, watchlist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0932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analytics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50932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Derived read models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0932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v_portfolio, v_blotter, account_snapshot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394959"/>
            <a:ext cx="11091672" cy="3657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68680" y="54681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audit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54681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Immutable change log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4681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activity_log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8430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ops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58430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Operations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84301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health_check, schema_migration, partitions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254496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676"/>
                </a:solidFill>
                <a:latin typeface="Calibri"/>
              </a:rPr>
              <a:t>Schemas give readable qualified names, a per-context GRANT surface, and a natural attachment point for security policies. The dependency direction is explicit: engine depends on ledger and risk, never the reverse.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Boyce-Codd Normal Form, and the three deliberate exceptions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fig-norm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290" y="1115568"/>
            <a:ext cx="9549113" cy="50292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A denormalization that cannot be checked is a defect awaiting discovery. Each of the three is a cache with a trigger that maintains it and an invariant that verifies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Database Implementation — CREATE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trading.trade_order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6903720" cy="451688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CREATE TABLE trading.trade_order (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order_id        BIGINT GENERATED ALWAYS AS IDENTITY PRIMARY KEY,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    -- Idempotency key: a retried POST cannot create a second order.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client_order_id UUID NOT NULL DEFAULT gen_random_uuid() UNIQUE,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    -- The "time" in price-TIME priority. Timestamps can tie and can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    -- move backwards under NTP; a sequence can do neither.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seq_no          BIGINT NOT NULL DEFAULT nextval('engine.order_seq'),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account_id      BIGINT  NOT NULL REFERENCES trading.account(account_id),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instrument_id   INTEGER NOT NULL REFERENCES reference.instrument(...),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side            trading.order_side    NOT NULL,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kind            trading.order_kind    NOT NULL,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tif             trading.time_in_force NOT NULL DEFAULT 'day',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quantity        qty_amt  NOT NULL,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limit_price     NUMERIC(20,8) CHECK (limit_price IS NULL OR &gt; 0),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filled_qty      qty_amt0 NOT NULL DEFAULT 0,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    -- GENERATED: remaining size is arithmetic, not state.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leaves_qty      NUMERIC(20,8) GENERATED ALWAYS AS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           (quantity - filled_qty) STORED,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status          trading.order_status NOT NULL DEFAULT 'pending',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CONSTRAINT limit_requires_price CHECK (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kind NOT IN ('limit','stop_limit') OR limit_price IS NOT NULL),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CONSTRAINT no_overfill CHECK (filled_qty &lt;= quantity));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62672" y="1188720"/>
            <a:ext cx="3977639" cy="23317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36992" y="1389888"/>
            <a:ext cx="3428999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Constraints on show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PRIMARY KEY  identity column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UNIQUE  client_order_id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FOREIGN KEY  account, instrument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NOT NULL  on every required column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CHECK  two table-level rules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GENERATED  leaves_qty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62672" y="3657600"/>
            <a:ext cx="3977639" cy="2697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36992" y="3858768"/>
            <a:ext cx="3428999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B9770E"/>
                </a:solidFill>
                <a:latin typeface="Calibri"/>
              </a:rPr>
              <a:t>Why a sequence, not a clock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Two orders placed in the same millisecond tie on a timestamp.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An NTP correction can move a clock backwards and reorder them.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engine.order_seq gives a total order that nothing outside the database can disturb — which is what fairness means here.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Database Implementation — the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ledger.posting, and the constraint that makes double entry a guarantee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6675120" cy="3494277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CREATE TABLE ledger.posting (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posting_id    BIGINT GENERATED ALWAYS AS IDENTITY PRIMARY KEY,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entry_id      BIGINT NOT NULL REFERENCES ledger.journal_entry(entry_id)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                          ON DELETE CASCADE,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account_id    BIGINT NOT NULL REFERENCES trading.account(account_id),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asset_class   ledger.asset_class NOT NULL,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instrument_id INTEGER REFERENCES reference.instrument(instrument_id),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currency      currency_code REFERENCES reference.currency(code),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    -- Positive = value flows INTO this account, negative = OUT of it.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amount        money_amt NOT NULL CHECK (amount &lt;&gt; 0),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CONSTRAINT asset_instrument_agreement CHECK (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(asset_class = 'cash'     AND instrument_id IS NULL)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OR (asset_class = 'security' AND instrument_id IS NOT NULL)));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CREATE CONSTRAINT TRIGGER trg_posting_balanced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AFTER INSERT OR UPDATE OR DELETE ON ledger.posting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DEFERRABLE INITIALLY DEFERRED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FOR EACH ROW EXECUTE FUNCTION ledger.assert_entry_balanced();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188720"/>
            <a:ext cx="4206240" cy="23774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99248" y="1389888"/>
            <a:ext cx="36575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The sign convention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A posting is one leg of an entry.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Positive flows in, negative flows out.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An entry balances when its legs sum to zero — independently for cash and for every security.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3703320"/>
            <a:ext cx="4206240" cy="26517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99248" y="3904487"/>
            <a:ext cx="3657599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E7C55"/>
                </a:solidFill>
                <a:latin typeface="Calibri"/>
              </a:rPr>
              <a:t>Why DEFERRABLE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Legs are inserted one row at a time, so the entry is legitimately unbalanced while that happens.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A per-statement check would reject every correct entry.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Deferring it to COMMIT is what lets the rule be absolute.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Database Implementation — partitioned 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market.candle_1m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6675120" cy="3835146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CREATE TABLE market.candle_1m (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instrument_id INTEGER     NOT NULL REFERENCES reference.instrument(...),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bucket_start  TIMESTAMPTZ NOT NULL,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open          price_amt   NOT NULL,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high          price_amt   NOT NULL,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low           price_amt   NOT NULL,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close         price_amt   NOT NULL,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qty_amt0      qty_amt0    NOT NULL DEFAULT 0,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trade_count   INTEGER     NOT NULL DEFAULT 0 CHECK (trade_count &gt;= 0),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vwap          NUMERIC(20,8),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PRIMARY KEY (instrument_id, bucket_start),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    -- OHLC has an internal arithmetic truth. A feed defect that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    -- violates it is rejected at write time, not discovered later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    -- as an impossible candlestick on a chart.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CONSTRAINT ohlc_coherent CHECK (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high &gt;= low AND high &gt;= open AND high &gt;= close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           AND low  &lt;= open AND low  &lt;= close),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CONSTRAINT bucket_aligned CHECK (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date_trunc('minute', bucket_start) = bucket_start)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) PARTITION BY RANGE (bucket_start);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188720"/>
            <a:ext cx="4206240" cy="22860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99248" y="1389888"/>
            <a:ext cx="3657599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Domains do the repeating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price_amt  NUMERIC(20,8) CHECK (&gt; 0)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qty_amt0   NUMERIC(20,8) CHECK (&gt;= 0)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The constraint travels with the type, so it cannot be forgotten on a column that uses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24927" y="3611880"/>
            <a:ext cx="4206240" cy="27432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99248" y="3813048"/>
            <a:ext cx="3657599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E7C55"/>
                </a:solidFill>
                <a:latin typeface="Calibri"/>
              </a:rPr>
              <a:t>Partitioning buys two things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The planner prunes whole months at plan time — measured on a later slide.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An expired month is detached in constant time instead of deleted row by row.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ops.ensure_time_partitions keeps a runway of future partitions ahead of the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Constraints — counted from the catalogue, not claimed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F6FEB"/>
                </a:solidFill>
                <a:latin typeface="Calibri"/>
              </a:rPr>
              <a:t>540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NOT NULL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39696" y="12801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F6FEB"/>
                </a:solidFill>
                <a:latin typeface="Calibri"/>
              </a:rPr>
              <a:t>71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30752" y="12801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F6FEB"/>
                </a:solidFill>
                <a:latin typeface="Calibri"/>
              </a:rPr>
              <a:t>57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FOREIGN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21807" y="12801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F6FEB"/>
                </a:solidFill>
                <a:latin typeface="Calibri"/>
              </a:rPr>
              <a:t>37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PRIMARY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2864" y="12801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1F6FEB"/>
                </a:solidFill>
                <a:latin typeface="Calibri"/>
              </a:rPr>
              <a:t>11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UNIQUE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19" y="12801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0E7C55"/>
                </a:solidFill>
                <a:latin typeface="Calibri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EXCLUDE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4976" y="128016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i="0">
                <a:solidFill>
                  <a:srgbClr val="0E7C55"/>
                </a:solidFill>
                <a:latin typeface="Calibri"/>
              </a:rPr>
              <a:t>1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alibri"/>
              </a:rPr>
              <a:t>CONSTRAINT TRIGGER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23160"/>
            <a:ext cx="11091672" cy="219278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onsolas"/>
              </a:rPr>
              <a:t>        kind        | declared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onsolas"/>
              </a:rPr>
              <a:t>--------------------+----------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onsolas"/>
              </a:rPr>
              <a:t> NOT NULL           |      540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onsolas"/>
              </a:rPr>
              <a:t> CHECK              |       71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onsolas"/>
              </a:rPr>
              <a:t> FOREIGN KEY        |       57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onsolas"/>
              </a:rPr>
              <a:t> PRIMARY KEY        |       37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onsolas"/>
              </a:rPr>
              <a:t> UNIQUE             |       11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onsolas"/>
              </a:rPr>
              <a:t> EXCLUDE            |        1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onsolas"/>
              </a:rPr>
              <a:t> CONSTRAINT TRIGGER |        1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onsolas"/>
              </a:rPr>
              <a:t>(7 rows)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4864607"/>
            <a:ext cx="4892040" cy="1417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E7C55"/>
                </a:solidFill>
                <a:latin typeface="Calibri"/>
              </a:rPr>
              <a:t>The EXCLUDE constraint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no_overlapping_halts, over GiST with btree_gist: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  two trading halts on one instrument cannot overlap in time.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A rule that would otherwise be a race condition in application code.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4663440"/>
            <a:ext cx="5440680" cy="1783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73952" y="4864607"/>
            <a:ext cx="4892040" cy="14173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The CONSTRAINT trigger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trg_posting_balanced, DEFERRABLE INITIALLY DEFERRED: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  every journal entry sums to zero, verified at COMMIT.</a:t>
            </a:r>
          </a:p>
          <a:p>
            <a:pPr algn="l">
              <a:spcAft>
                <a:spcPts val="7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This single object is what makes the ledger provable.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Sample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Generated so that it is internally consistent, by ordinary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6858000" cy="3664711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INSERT INTO reference.currency (code, name, symbol, minor_units) VALUES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('USD','US Dollar','$',2), ('INR','Indian Rupee','₹',2),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('EUR','Euro','€',2),      ('GBP','Pound Sterling','£',2)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ON CONFLICT (code) DO NOTHING;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INSERT INTO reference.instrument (symbol, exchange_id, name, sector,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                         currency, tick_size, lot_size,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                         price_band_pct, is_shortable)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VALUES ('AAPL', 1, 'Apple Inc.', 'Technology', 'USD', 0.01, 1, 20.0, TRUE);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 The password is never stored: pgcrypto hashes it with a per-row salt.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INSERT INTO identity.app_user (email, password_hash, full_name, role, kyc_state)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VALUES ('samrender@apex.io', identity.hash_password('Apex@2026'),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'Samrender Singh Saini', 'trader', 'verified');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 Funding an account is a LEDGER EVENT, not an UPDATE of a balance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 column: the money is moved from the system bank account.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SELECT ledger.post_entry('deposit', 'Opening balance', ARRAY[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ROW(1,   'cash', NULL, -500000.00, 'funding')::ledger.leg,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ROW(375, 'cash', NULL,  500000.00, 'funding')::ledger.leg]);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07808" y="1188720"/>
            <a:ext cx="4023360" cy="315341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relation       | count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----------------------+--------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audit.activity_log   |    704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identity.app_user    |      8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ledger.balance       |    148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ledger.journal_entry |    257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ledger.posting       |   1130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market.candle_1m     | 442080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market.tick          |      7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reference.currency   |     10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reference.fx_rate    |    414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reference.instrument |     24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trading.account      |     13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trading.execution    |    174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trading.position     |    123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trading.trade_order  |    599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(14 rows)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676"/>
                </a:solidFill>
                <a:latin typeface="Calibri"/>
              </a:rPr>
              <a:t>Forty-five trading sessions. The market history is self-consistent: candles agree with the ticks they were aggregated from, every execution has a balanced journal entry, and every position equals the sum of its postings.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SQL Queries and Outputs —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A portfolio cannot be answered from one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1091672" cy="211531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SELECT split_part(u.full_name,' ',1) AS trader, a.account_no, i.symbol,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     round(p.quantity,2) AS qty, round(p.avg_cost,2) AS avg_cost,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     round(q.last_price,2) AS last_px,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     round((q.last_price - p.avg_cost) * p.quantity, 2) AS unrealised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FROM trading.position  p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JOIN trading.account   a ON a.account_id    = p.account_id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JOIN identity.app_user u ON u.user_id       = a.user_id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JOIN reference.instrument i ON i.instrument_id = p.instrument_id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JOIN market.quote      q ON q.instrument_id = p.instrument_id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WHERE p.quantity &lt;&gt; 0 ORDER BY unrealised DESC LIMIT 8;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03320"/>
            <a:ext cx="11091672" cy="230124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trader   | account_no | symbol  |  qty   | avg_cost | last_px | unrealised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onsolas"/>
              </a:rPr>
              <a:t>-----------+------------+---------+--------+----------+---------+------------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Sam       | APX-000345 | MSFT    |  48.00 |   505.24 |  751.22 |   11807.04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Samrender | APX-000342 | TSLA    |  58.00 |   383.71 |  561.33 |   10302.07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Vartika   | APX-000343 | QQQ     |  53.00 |   493.49 |  673.05 |    9516.93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Samrender | APX-000342 | SOL-USD |  62.26 |   192.75 |  313.62 |    7524.98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Ginni     | APX-000346 | TSLA    |  21.00 |   235.88 |  561.33 |    6834.45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Kumar     | APX-000344 | QQQ     |  30.00 |   464.38 |  673.05 |    6260.04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Vartika   | APX-000343 | SPY     |  87.00 |   555.51 |  617.20 |    5366.84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Samrender | APX-000342 | V       | 171.00 |   281.71 |  298.58 |    2883.98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(8 rows)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676"/>
                </a:solidFill>
                <a:latin typeface="Calibri"/>
              </a:rPr>
              <a:t>Five tables from four bounded contexts. The join is the reason the data is normalised: the average cost lives in exactly one place and the live price in exactly one other.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SQL Queries and Outputs — aggregates and subqueries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5214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6FEB"/>
                </a:solidFill>
                <a:latin typeface="Calibri"/>
              </a:rPr>
              <a:t>GROUP BY, HAVING and the aggregate FILTER clause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178993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SELECT i.symbol, count(*) AS orders,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count(*) FILTER (WHERE o.side='buy')  AS buys,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count(*) FILTER (WHERE o.side='sell') AS sells,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round(sum(o.filled_qty))         AS filled,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round(avg(o.avg_fill_price), 2)  AS avg_px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FROM trading.trade_order o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JOIN reference.instrument i USING (instrument_id)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GROUP BY i.symbol HAVING count(*) &gt;= 10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ORDER BY orders DESC LIMIT 8;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40480"/>
            <a:ext cx="5486400" cy="2130806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symbol | orders | buys | sells | filled | avg_px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--------+--------+------+-------+--------+--------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DIS    |     54 |   33 |    21 |   2400 |  98.74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INTC   |     48 |   24 |    24 |   9748 |  43.05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NVDA   |     36 |   18 |    18 |   2518 |  84.89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AMZN   |     35 |   18 |    17 |   1112 | 177.28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AAPL   |     35 |   20 |    15 |    934 | 186.33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AMD    |     32 |   16 |    16 |   1090 | 166.98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SPY    |     32 |   16 |    16 |    358 | 565.13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GOOGL  |     30 |   15 |    15 |   1306 | 157.58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(8 rows)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152144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6FEB"/>
                </a:solidFill>
                <a:latin typeface="Calibri"/>
              </a:rPr>
              <a:t>Scalar, correlated and EXISTS subqueries in one statement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5440680" cy="2471674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SELECT u.full_name,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       -- scalar subquery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(SELECT count(*) FROM trading.trade_order o2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 JOIN trading.account a2 USING (account_id)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WHERE a2.user_id = u.user_id)      AS orders,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       -- correlated subquery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(SELECT max(o3.placed_at) FROM trading.trade_order o3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 JOIN trading.account a3 USING (account_id)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WHERE a3.user_id = u.user_id)      AS last_order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FROM identity.app_user u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WHERE EXISTS (SELECT 1 FROM trading.account a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       WHERE a.user_id = u.user_id)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AND u.role = 'trader' ORDER BY orders DESC;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4343400"/>
            <a:ext cx="5440680" cy="1789938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full_name       | orders |          last_order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-----------------------+--------+-------------------------------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Samrender Singh Saini |     54 | 2026-10-18 22:58:09.641226+00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Vartika Chaudhary     |     47 | 2026-10-18 22:58:08.626855+00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Ginni Kaur            |     32 | 2026-10-18 19:57:48.123864+00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Kumar Paritosh        |     30 | 2026-10-16 18:11:03+00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Pari Sharma           |     19 | 2026-10-18 22:57:48.198088+00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Sam Saini             |     16 | 2026-10-18 22:58:08.396372+00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(6 rows)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SQL Queries and Outputs — CTE and window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A running cash balance depends on every earlier row in the partition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1091672" cy="1929384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WITH cash AS (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  SELECT p.account_id, p.currency, p.amount, e.occurred_at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    FROM ledger.posting p JOIN ledger.journal_entry e USING (entry_id)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   WHERE p.asset_class = 'cash' AND p.account_id = :a_sam)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SELECT occurred_at::date AS on_date, currency, round(amount,2) AS amount,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     round(sum(amount) OVER (PARTITION BY currency ORDER BY occurred_at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                             ROWS UNBOUNDED PRECEDING), 2) AS running_cash,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     rank() OVER (ORDER BY abs(amount) DESC)               AS size_rank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FROM cash ORDER BY occurred_at LIMIT 8;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20440"/>
            <a:ext cx="11091672" cy="230124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on_date   | currency |  amount   | running_cash | size_rank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onsolas"/>
              </a:rPr>
              <a:t>------------+----------+-----------+--------------+-----------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2026-08-16 | USD      | 500000.00 |    500000.00 |         1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2026-08-17 | USD      | -19964.69 |    480035.31 |        11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2026-08-20 | USD      | -19997.70 |    460037.61 |        10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2026-08-21 | USD      |  -7796.54 |    452241.07 |        28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2026-08-25 | USD      | -20026.09 |    432214.98 |         6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2026-08-25 | USD      |  -2049.28 |    430165.71 |        42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2026-08-28 | USD      |  -2049.34 |    428116.37 |        41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2026-08-31 | USD      | -12007.16 |    416109.21 |        16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(8 rows)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676"/>
                </a:solidFill>
                <a:latin typeface="Calibri"/>
              </a:rPr>
              <a:t>A correlated subquery would make this quadratic. The window frame ROWS UNBOUNDED PRECEDING computes it in one ordered pass.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INSERT, UPDATE and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Shown together in one transaction, then rolled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669280" cy="3323844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BEGIN;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INSERT INTO social.watchlist_item (watchlist_id, instrument_id, note)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SELECT w.watchlist_id, i.instrument_id, 'added for the report'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FROM social.watchlist w, reference.instrument i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WHERE w.user_id = :u_sam AND w.is_default AND i.symbol = 'INTC'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RETURNING watchlist_id, instrument_id, note;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UPDATE risk.risk_limit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SET max_order_notional = max_order_notional * 1.10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WHERE account_id = :a_sam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RETURNING account_id, round(max_order_notional,2) AS new_cap;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DELETE FROM social.watchlist_item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WHERE watchlist_id IN (SELECT watchlist_id FROM social.watchlist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                WHERE user_id = :u_sam)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AND note = 'added for the report'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RETURNING instrument_id, note;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ROLLBACK;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188720"/>
            <a:ext cx="5193792" cy="2859024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onsolas"/>
              </a:rPr>
              <a:t> watchlist_id | instrument_id |         note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A6676"/>
                </a:solidFill>
                <a:latin typeface="Consolas"/>
              </a:rPr>
              <a:t>--------------+---------------+----------------------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onsolas"/>
              </a:rPr>
              <a:t>          356 |           601 | added for the report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onsolas"/>
              </a:rPr>
              <a:t>(1 row)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onsolas"/>
              </a:rPr>
              <a:t> account_id |  new_cap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A6676"/>
                </a:solidFill>
                <a:latin typeface="Consolas"/>
              </a:rPr>
              <a:t>------------+------------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onsolas"/>
              </a:rPr>
              <a:t>        375 | 1100000.00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onsolas"/>
              </a:rPr>
              <a:t>(1 row)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onsolas"/>
              </a:rPr>
              <a:t> instrument_id |         note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A6676"/>
                </a:solidFill>
                <a:latin typeface="Consolas"/>
              </a:rPr>
              <a:t>---------------+----------------------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onsolas"/>
              </a:rPr>
              <a:t>           601 | added for the report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onsolas"/>
              </a:rPr>
              <a:t>(1 row)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A6676"/>
                </a:solidFill>
                <a:latin typeface="Consolas"/>
              </a:rPr>
              <a:t>-- ROLLBACK issued: none of the three statements above is durable.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4206240"/>
            <a:ext cx="5193792" cy="21488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720840" y="4407407"/>
            <a:ext cx="4645152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Why RETURNING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It is not a convenience. It is the only way to learn a generated identity key without a second round trip that could race another session.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The ROLLBACK leaves the database exactly as it was found.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The complete order round trip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Submission, matching, settlement and cancellation — all inside the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1091672" cy="3835146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 (a) The Vartika account sends a limit SELL of 10 AAPL, asking 150.00.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     The book already holds a better bid, so price-time priority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     fills the aggressor AT THE RESTING PRICE, not at its own limit.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order_id | status | filled_qty  | avg_fill_price | reject_reason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----------+--------+-------------+----------------+---------------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9713 | filled | 10.00000000 |   174.73000000 |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(1 row)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 (b) The Samrender account bids 155.00, below the best ask, so the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     order rests on the book in status working instead of filling.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order_id | status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----------+---------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9714     | working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(1 row)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 (c) The execution row the engine wrote for (a)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execution_id | price  |  qty  | aggressor_side | buyer | seller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--------------+--------+-------+----------------+-------+--------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4049 | 174.73 | 10.00 | sell           |     4 |    376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(1 row)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6636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A2332"/>
                </a:solidFill>
                <a:latin typeface="Calibri"/>
              </a:rPr>
              <a:t>The first order is instructive. It asks to sell at 150.00 and fills at 174.73 — not an error, but price-time priority awarding the aggressor the best resting price on the opposite side of the book, which here was a bid well above the seller’s own limit. The second order bids below the best ask, does not cross, and rests on the book in status working.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Settlement — one purchase, four legs, two zero-sum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22</a:t>
            </a:r>
          </a:p>
        </p:txBody>
      </p:sp>
      <p:pic>
        <p:nvPicPr>
          <p:cNvPr id="5" name="Picture 4" descr="fig-double-e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271" y="1115568"/>
            <a:ext cx="5915152" cy="324612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548640" y="4526280"/>
            <a:ext cx="5760720" cy="1619504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account_id | asset_class | sym  | currency |  amount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------------+-------------+------+----------+----------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 4 | cash        | -    | USD      | -1747.65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376 | cash        | -    | USD      |  1745.55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 4 | security    | AAPL |          |    10.00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376 | security    | AAPL |          |   -10.00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        2 | cash        | -    | USD      |     2.10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(5 rows)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4526280"/>
            <a:ext cx="5102352" cy="1108201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asset_class | currency | must_be_zero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-------------+----------+--------------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cash        | USD      |   0.00000000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security    |          |   0.00000000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(2 rows)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5806440"/>
            <a:ext cx="5102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Summed per asset class, the legs are exactly zero. That is the condition the deferred constraint checks at COMMIT.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Operations the database refuses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A system that only demonstrates success has demonstrated half its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1091672" cy="3416807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onsolas"/>
              </a:rPr>
              <a:t>-- (a) Selling stock the account does not hold, short selling off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status  |                                 reject_reason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onsolas"/>
              </a:rPr>
              <a:t>----------+-------------------------------------------------------------------------------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rejected | cannot sell 5 NVDA: you hold 0. Short selling is not enabled on this account.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(1 row)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onsolas"/>
              </a:rPr>
              <a:t>-- (b) A buy far beyond the single-order notional cap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status  |                       reject_reason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onsolas"/>
              </a:rPr>
              <a:t>----------+------------------------------------------------------------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rejected | order value 20000000 USD exceeds your limit of 1000000 USD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(1 row)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onsolas"/>
              </a:rPr>
              <a:t>-- (c) A limit price outside the instrument price band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status  |                 reject_reason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onsolas"/>
              </a:rPr>
              <a:t>----------+------------------------------------------------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rejected | price 20 outside 20% band [139.8400, 209.7600]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(1 row)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977639"/>
            <a:ext cx="3584448" cy="23774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4178807"/>
            <a:ext cx="303580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B9770E"/>
                </a:solidFill>
                <a:latin typeface="Calibri"/>
              </a:rPr>
              <a:t>Short-sale gate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The account does not hold the stock and short selling is off.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risk.pretrade_check compares the order against holdings and open sell exposure before anything reaches the 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977639"/>
            <a:ext cx="3584448" cy="23774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90288" y="4178807"/>
            <a:ext cx="3035808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B9770E"/>
                </a:solidFill>
                <a:latin typeface="Calibri"/>
              </a:rPr>
              <a:t>Notional cap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Per-account single-order limit, held in risk.risk_limit.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Converted into the account’s base currency first, so the cap means the same thing in INR and in USD.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3977639"/>
            <a:ext cx="3566160" cy="23774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48472" y="4178807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B9770E"/>
                </a:solidFill>
                <a:latin typeface="Calibri"/>
              </a:rPr>
              <a:t>Price band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Per-instrument percentage band around the reference price.</a:t>
            </a:r>
          </a:p>
          <a:p>
            <a:pPr algn="l">
              <a:spcAft>
                <a:spcPts val="7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A rejected order is a normal business outcome, so the reason is RETURNED to the caller, not raised as an exception.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Transaction Control — a constraint that fires at 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1672" cy="2115312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onsolas"/>
              </a:rPr>
              <a:t>-- The INSERT below is accepted: the check is DEFERRED.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posting_id | account_id |    amount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onsolas"/>
              </a:rPr>
              <a:t>------------+------------+---------------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    24876 |        375 | 1000.00000000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(1 row)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onsolas"/>
              </a:rPr>
              <a:t>-- COMMIT now runs the constraint trigger: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psql:q09_defer.sql:13: ERROR:  ledger entry 5825 has 1 posting(s): double-entry requires at least two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HINT:  value must move between two named accounts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CONTEXT:  PL/pgSQL function ledger.assert_entry_balanced() line 11 at RAISE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2336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4224528"/>
            <a:ext cx="48920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What the listing shows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The INSERT succeeds — the check is DEFERRED.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The COMMIT fails, and the whole transaction is discarded.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The entry had one leg; double entry requires at least two, and the legs must sum to zero per asset class.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023360"/>
            <a:ext cx="5440680" cy="23317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73952" y="4224528"/>
            <a:ext cx="4892040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E7C55"/>
                </a:solidFill>
                <a:latin typeface="Calibri"/>
              </a:rPr>
              <a:t>Why this matters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The ledger balances not by discipline in the application, and not by a nightly reconciliation job, but by a rule the database will not allow a transaction to violate.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Any future code that writes to ledger.posting inherits the guarantee.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Transaction Control — COMMIT, ROLLBACK and SAVEPOINT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760720" cy="2642107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BEGIN;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INSERT INTO social.watchlist (user_id, name)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VALUES (:u_sam, 'Report A') RETURNING watchlist_id, name;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SAVEPOINT after_first;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INSERT INTO social.watchlist (user_id, name)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VALUES (:u_sam, 'Report B') RETURNING watchlist_id, name;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ROLLBACK TO SAVEPOINT after_first;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 only Report A remains pending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SELECT name FROM social.watchlist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WHERE user_id = :u_sam AND name LIKE 'Report%';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ROLLBACK;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onsolas"/>
              </a:rPr>
              <a:t>-- the demonstration leaves nothing behind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SELECT count(*) AS report_rows_left</a:t>
            </a:r>
          </a:p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1A2332"/>
                </a:solidFill>
                <a:latin typeface="Consolas"/>
              </a:rPr>
              <a:t>  FROM social.watchlist WHERE name LIKE 'Report%';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188720"/>
            <a:ext cx="5102352" cy="3509771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watchlist_id |   name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676"/>
                </a:solidFill>
                <a:latin typeface="Consolas"/>
              </a:rPr>
              <a:t>--------------+----------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         368 | Report A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(1 row)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watchlist_id |   name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676"/>
                </a:solidFill>
                <a:latin typeface="Consolas"/>
              </a:rPr>
              <a:t>--------------+----------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         369 | Report B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(1 row)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676"/>
                </a:solidFill>
                <a:latin typeface="Consolas"/>
              </a:rPr>
              <a:t>-- Rolled back to the savepoint: only Report A remains pending.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  name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676"/>
                </a:solidFill>
                <a:latin typeface="Consolas"/>
              </a:rPr>
              <a:t>----------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Report A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(1 row)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676"/>
                </a:solidFill>
                <a:latin typeface="Consolas"/>
              </a:rPr>
              <a:t>-- Outer ROLLBACK: the demonstration leaves nothing behind.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report_rows_left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676"/>
                </a:solidFill>
                <a:latin typeface="Consolas"/>
              </a:rPr>
              <a:t>------------------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               0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(1 row)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11091672" cy="402336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470915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BEGIN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709159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Opens the unit of work; the deferred constraint is now 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2064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SAVEPOINT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120640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Marks a point the transaction can be returned 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440680"/>
            <a:ext cx="11091672" cy="402336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55321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ROLLBACK TO SAVEPOINT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532120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Undoes later statements, keeping the transaction 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943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943600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Runs every deferred constraint, then makes the work durable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263640"/>
            <a:ext cx="11091672" cy="402336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63550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B2B5B"/>
                </a:solidFill>
                <a:latin typeface="Consolas"/>
              </a:rPr>
              <a:t>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355080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Discards the whole unit of work, leaving no trace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Advanced — Procedures and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84 routines. They are not a convenience layer; they are where the rules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1091672" cy="365760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2618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Routine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618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618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Responsibility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09344"/>
            <a:ext cx="11091672" cy="333756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16642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B2B5B"/>
                </a:solidFill>
                <a:latin typeface="Consolas"/>
              </a:rPr>
              <a:t>engine.submit_order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642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alibri"/>
              </a:rPr>
              <a:t>PL/pgSQL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6420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Validate, risk-check, persist, lock the book,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00710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B2B5B"/>
                </a:solidFill>
                <a:latin typeface="Consolas"/>
              </a:rPr>
              <a:t>engine.match_order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0710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alibri"/>
              </a:rPr>
              <a:t>PL/pgSQL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07107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The price-time priority matching 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295144"/>
            <a:ext cx="11091672" cy="333756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23500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B2B5B"/>
                </a:solidFill>
                <a:latin typeface="Consolas"/>
              </a:rPr>
              <a:t>engine.settle_fill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3500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alibri"/>
              </a:rPr>
              <a:t>PL/pgSQL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5000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Write the execution and post the journal entry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6929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B2B5B"/>
                </a:solidFill>
                <a:latin typeface="Consolas"/>
              </a:rPr>
              <a:t>engine.elect_stops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6929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alibri"/>
              </a:rPr>
              <a:t>PL/pgSQL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69290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Arm and elect stop and trailing-stop orders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980944"/>
            <a:ext cx="11091672" cy="333756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30358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B2B5B"/>
                </a:solidFill>
                <a:latin typeface="Consolas"/>
              </a:rPr>
              <a:t>ledger.post_entry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0358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alibri"/>
              </a:rPr>
              <a:t>PL/pgSQL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03580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Write an entry and its legs as one atomic 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3787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B2B5B"/>
                </a:solidFill>
                <a:latin typeface="Consolas"/>
              </a:rPr>
              <a:t>ledger.verify_integrity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37870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alibri"/>
              </a:rPr>
              <a:t>PL/pgSQL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37870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Re-derive every balance and report drift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666744"/>
            <a:ext cx="11091672" cy="333756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8680" y="372160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B2B5B"/>
                </a:solidFill>
                <a:latin typeface="Consolas"/>
              </a:rPr>
              <a:t>risk.pretrade_check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72160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alibri"/>
              </a:rPr>
              <a:t>PL/pgSQL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721607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Buying power, short gate, cap, band, halts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06450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B2B5B"/>
                </a:solidFill>
                <a:latin typeface="Consolas"/>
              </a:rPr>
              <a:t>market.candles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06450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alibri"/>
              </a:rPr>
              <a:t>SQL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064507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Any chart interval from the one-minute base table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352544"/>
            <a:ext cx="11091672" cy="333756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68680" y="440740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B2B5B"/>
                </a:solidFill>
                <a:latin typeface="Consolas"/>
              </a:rPr>
              <a:t>market.candles_with_indicators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440740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alibri"/>
              </a:rPr>
              <a:t>SQL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407407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SMA, EMA, Bollinger bands and RSI by window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475030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B2B5B"/>
                </a:solidFill>
                <a:latin typeface="Consolas"/>
              </a:rPr>
              <a:t>analytics.performance_stats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475030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alibri"/>
              </a:rPr>
              <a:t>SQL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4750307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Return, drawdown, Sharpe ratio, win rate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038344"/>
            <a:ext cx="11091672" cy="333756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68680" y="509320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B2B5B"/>
                </a:solidFill>
                <a:latin typeface="Consolas"/>
              </a:rPr>
              <a:t>surveil.run_all_scans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509320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alibri"/>
              </a:rPr>
              <a:t>PL/pgSQL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093207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Four market-abuse detections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543610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B2B5B"/>
                </a:solidFill>
                <a:latin typeface="Consolas"/>
              </a:rPr>
              <a:t>ops.health_check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543610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alibri"/>
              </a:rPr>
              <a:t>SQL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436107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Evaluate the eighteen structural invariants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724144"/>
            <a:ext cx="11091672" cy="333756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68680" y="5779007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0B2B5B"/>
                </a:solidFill>
                <a:latin typeface="Consolas"/>
              </a:rPr>
              <a:t>ops.end_of_day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0" y="577900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A6676"/>
                </a:solidFill>
                <a:latin typeface="Calibri"/>
              </a:rPr>
              <a:t>PROCEDURE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779007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Expire, snapshot, refresh, roll partitions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A6676"/>
                </a:solidFill>
                <a:latin typeface="Calibri"/>
              </a:rPr>
              <a:t>ops.end_of_day is a PROCEDURE rather than a function for a specific reason: a procedure may issue COMMIT, and the end-of-day run is a sequence of independent steps that should not be undone as a group if the last of them fails.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Advanced — the matching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Price-time priority expressed as an ORDER BY that an index can serve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6766560" cy="3641471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onsolas"/>
              </a:rPr>
              <a:t>-- Find the single best contra order.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onsolas"/>
              </a:rPr>
              <a:t>-- The ORDER BY here *is* price-time priority, and it is served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onsolas"/>
              </a:rPr>
              <a:t>-- directly by ix_book_bids / ix_book_asks with no sort step.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onsolas"/>
              </a:rPr>
              <a:t>-- SKIP LOCKED is deliberately NOT used: skipping a locked order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onsolas"/>
              </a:rPr>
              <a:t>-- would violate time priority by letting a later order jump the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onsolas"/>
              </a:rPr>
              <a:t>-- queue, so we block and preserve fairness instead.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SELECT c.order_id, c.limit_price, c.leaves_qty, c.account_id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 INTO v_contra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 FROM trading.trade_order c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WHERE c.instrument_id = v_o.instrument_id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  AND c.side   = 'sell'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  AND c.status IN ('working','partially_filled')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  AND NOT c.stop_armed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  AND c.limit_price IS NOT NULL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  AND c.leaves_qty  &gt; 0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  AND (v_limit IS NULL OR c.limit_price &lt;= v_limit)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ORDER BY c.limit_price ASC, c.seq_no ASC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LIMIT 1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FOR UPDATE;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16368" y="118872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90688" y="1389888"/>
            <a:ext cx="35661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The index that serves it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ix_book_asks is a PARTIAL B-tree over (instrument_id, limit_price, seq_no) WHERE the order is still resting.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It covers only the live book, so it stays small no matter how much history accumulates.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16368" y="3611880"/>
            <a:ext cx="4114800" cy="19202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90688" y="3813048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B9770E"/>
                </a:solidFill>
                <a:latin typeface="Calibri"/>
              </a:rPr>
              <a:t>FOR UPDATE, not SKIP LOCKED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SKIP LOCKED is the usual advice for a queue. An order book is not a queue: skipping a locked order lets a later order jump ahead, which is exactly the fairness the venue exists to guarantee.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16368" y="5669280"/>
            <a:ext cx="4114800" cy="7772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90688" y="5870448"/>
            <a:ext cx="3566160" cy="411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E7C55"/>
                </a:solidFill>
                <a:latin typeface="Calibri"/>
              </a:rPr>
              <a:t>The serialisation point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A2332"/>
                </a:solidFill>
                <a:latin typeface="Calibri"/>
              </a:rPr>
              <a:t>•  pg_advisory_xact_lock(hashtext('apex_book'), instrument_id)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Advanced —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Twenty on the base tables, in four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6400800" cy="3463289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       table_name        |         trigger_name          |    kind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A6676"/>
                </a:solidFill>
                <a:latin typeface="Consolas"/>
              </a:rPr>
              <a:t>--------------------------+-------------------------------+------------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identity.app_user        | trg_audit_user               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identity.app_user        | trg_user_default_watchlist   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ledger.journal_entry     | trg_journal_immutable        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ledger.posting           | trg_posting_balanced          | constraint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ledger.posting           | trg_posting_immutable        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ledger.posting           | trg_posting_syncs_position   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ledger.posting           | trg_posting_updates_balance  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social.copy_subscription | trg_no_self_copy             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surveil.alert            | trg_audit_alert              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trading.account          | trg_account_default_limits   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trading.account          | trg_audit_account            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trading.execution        | trg_block_self_match         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trading.execution        | trg_execution_enqueues_copies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trading.trade_order      | trg_audit_order_material     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 trading.trade_order      | trg_audit_order_write         | row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1A2332"/>
                </a:solidFill>
                <a:latin typeface="Consolas"/>
              </a:rPr>
              <a:t>(15 rows)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188720"/>
            <a:ext cx="4873752" cy="13716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0" y="1389888"/>
            <a:ext cx="432511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Maintain derived state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trg_posting_updates_balance, trg_posting_syncs_position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697480"/>
            <a:ext cx="4873752" cy="13716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40880" y="2898648"/>
            <a:ext cx="432511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E7C55"/>
                </a:solidFill>
                <a:latin typeface="Calibri"/>
              </a:rPr>
              <a:t>Enforce an invariant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trg_posting_balanced (deferred), trg_block_self_match, trg_no_self_copy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206240"/>
            <a:ext cx="4873752" cy="11887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40880" y="4407407"/>
            <a:ext cx="432511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B9770E"/>
                </a:solidFill>
                <a:latin typeface="Calibri"/>
              </a:rPr>
              <a:t>Make a table append-only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trg_journal_immutable, trg_posting_immutable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5532120"/>
            <a:ext cx="4873752" cy="10972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40880" y="5733288"/>
            <a:ext cx="4325112" cy="7315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5A6676"/>
                </a:solidFill>
                <a:latin typeface="Calibri"/>
              </a:rPr>
              <a:t>Write the audit trail</a:t>
            </a:r>
          </a:p>
          <a:p>
            <a:pPr algn="l">
              <a:spcAft>
                <a:spcPts val="5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</a:rPr>
              <a:t>•  trg_audit_user, trg_audit_account, trg_audit_order_write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Advanced — Views and Materialized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and the security-mode defect that none of them reported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5212080" cy="2859024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     object_name       |  kind   | runs_as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onsolas"/>
              </a:rPr>
              <a:t>-------------------------+---------+---------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mv_instrument_daily     | matview | definer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mv_strategy_leaderboard | matview | definer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quote_enriched          | view    | definer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v_account_summary       | view    | invoker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v_alert_queue           | view    | invoker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v_blotter               | view    | invoker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v_book_depth            | view    | definer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v_fx_board              | view    | definer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v_open_orders           | view    | invoker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v_portfolio             | view    | invoker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v_watchlist             | view    | invoker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(11 rows)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188720"/>
            <a:ext cx="5696712" cy="24688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0" y="1389888"/>
            <a:ext cx="5148072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B9770E"/>
                </a:solidFill>
                <a:latin typeface="Calibri"/>
              </a:rPr>
              <a:t>What the runs_as column records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A view executes with the privileges of its OWNER, and a table owner is exempt from Row Level Security on its own tables.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Every view over user data was therefore returning every user’s rows while the policies beneath it read as correct.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794760"/>
            <a:ext cx="5696712" cy="26517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17920" y="3995928"/>
            <a:ext cx="514807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0E7C55"/>
                </a:solidFill>
                <a:latin typeface="Calibri"/>
              </a:rPr>
              <a:t>The fix, and the guard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WITH (security_invoker = true) — the view now executes as the caller.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ops.assert_rls_intact() fails if a view over a policy-protected table is ever created without it.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•  The five definer-rights views expose only reference and market data, which is not user-specific.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Advanced — Row Level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30</a:t>
            </a:r>
          </a:p>
        </p:txBody>
      </p:sp>
      <p:pic>
        <p:nvPicPr>
          <p:cNvPr id="5" name="Picture 4" descr="fig-r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72" y="1115568"/>
            <a:ext cx="9429750" cy="50292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Connected as apex_app, the unprivileged role the API uses. A session can see exactly one account, and no query it can write will widen that.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Advanced — Partitioning and the index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31</a:t>
            </a:r>
          </a:p>
        </p:txBody>
      </p:sp>
      <p:pic>
        <p:nvPicPr>
          <p:cNvPr id="5" name="Picture 4" descr="fig-phys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7" y="1115568"/>
            <a:ext cx="7498080" cy="36576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548640" y="4956048"/>
            <a:ext cx="11091672" cy="1727962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A2332"/>
                </a:solidFill>
                <a:latin typeface="Consolas"/>
              </a:rPr>
              <a:t>                                                                                          QUERY PLAN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A6676"/>
                </a:solidFill>
                <a:latin typeface="Consolas"/>
              </a:rPr>
              <a:t>----------------------------------------------------------------------------------------------------------------------------------------------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A6676"/>
                </a:solidFill>
                <a:latin typeface="Consolas"/>
              </a:rPr>
              <a:t>    ------------------------------------------------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A2332"/>
                </a:solidFill>
                <a:latin typeface="Consolas"/>
              </a:rPr>
              <a:t> Limit (actual rows=100 loops=1)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A2332"/>
                </a:solidFill>
                <a:latin typeface="Consolas"/>
              </a:rPr>
              <a:t>   -&gt;  Index Scan Backward using candle_1m_p202610_pkey on candle_1m_p202610 candle_1m (actual rows=100 loops=1)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A2332"/>
                </a:solidFill>
                <a:latin typeface="Consolas"/>
              </a:rPr>
              <a:t>         Index Cond: ((instrument_id = 589) AND (bucket_start &gt;= '2026-10-01 00:00:00+00'::timestamp with time zone) AND (bucket_start &lt;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A2332"/>
                </a:solidFill>
                <a:latin typeface="Consolas"/>
              </a:rPr>
              <a:t>          '2026-10-02 00:00:00+00'::timestamp with time zone))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A2332"/>
                </a:solidFill>
                <a:latin typeface="Consolas"/>
              </a:rPr>
              <a:t> Planning Time: 0.609 ms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A2332"/>
                </a:solidFill>
                <a:latin typeface="Consolas"/>
              </a:rPr>
              <a:t> Execution Time: 0.065 ms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1A2332"/>
                </a:solidFill>
                <a:latin typeface="Consolas"/>
              </a:rPr>
              <a:t>(5 rows)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Advanced — Market-abuse surveillance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32</a:t>
            </a:r>
          </a:p>
        </p:txBody>
      </p:sp>
      <p:pic>
        <p:nvPicPr>
          <p:cNvPr id="5" name="Picture 4" descr="fig-surveil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72" y="1115568"/>
            <a:ext cx="9429750" cy="50292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Evidence is stored as JSONB and indexed with GIN, so an alert raised today can still be interrogated months later.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Market data — and the two guards added after it broke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33</a:t>
            </a:r>
          </a:p>
        </p:txBody>
      </p:sp>
      <p:pic>
        <p:nvPicPr>
          <p:cNvPr id="5" name="Picture 4" descr="fig-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15568"/>
            <a:ext cx="11247120" cy="4758397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Both defects produced wrong data rather than an error message. Both are now covered by an invariant that fails loudly.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Application —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34</a:t>
            </a:r>
          </a:p>
        </p:txBody>
      </p:sp>
      <p:pic>
        <p:nvPicPr>
          <p:cNvPr id="5" name="Picture 4" descr="ss-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43" y="1188720"/>
            <a:ext cx="7607808" cy="475488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Six named demonstration accounts, a compliance officer and an administrator. Passwords are hashed by pgcrypto with a per-row salt; identity.authenticate compares the hash, counts failures and applies a lockout, all in the database.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Application — the trading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35</a:t>
            </a:r>
          </a:p>
        </p:txBody>
      </p:sp>
      <p:pic>
        <p:nvPicPr>
          <p:cNvPr id="5" name="Picture 4" descr="ss-02-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43" y="1188720"/>
            <a:ext cx="7607808" cy="475488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Candlestick chart with moving averages, Bollinger bands, volume and RSI, a live depth-of-market ladder, and the order ticket. The indicators are returned by market.candles_with_indicators, not computed in the browser.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Application — positions and the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36</a:t>
            </a:r>
          </a:p>
        </p:txBody>
      </p:sp>
      <p:pic>
        <p:nvPicPr>
          <p:cNvPr id="5" name="Picture 4" descr="ss-04-po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188720"/>
            <a:ext cx="11064240" cy="3049581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The positions tab shows what the account holds; the ledger tab shows every journal entry that produced those holdings. The first is derived from the second.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Application — portfolio and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37</a:t>
            </a:r>
          </a:p>
        </p:txBody>
      </p:sp>
      <p:pic>
        <p:nvPicPr>
          <p:cNvPr id="5" name="Picture 4" descr="ss-05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43" y="1188720"/>
            <a:ext cx="7607808" cy="475488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Net asset value curve, allocation and performance statistics. Return, drawdown, Sharpe ratio and win rate come from analytics.performance_stats in one statement.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Application — markets, equities and crypto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38</a:t>
            </a:r>
          </a:p>
        </p:txBody>
      </p:sp>
      <p:pic>
        <p:nvPicPr>
          <p:cNvPr id="5" name="Picture 4" descr="ss-07-mar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43" y="1188720"/>
            <a:ext cx="7607808" cy="475488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Crypto instruments carry trades_24x7, so reference.is_instrument_open returns true at all hours while an equity is closed outside its session. The distinction is reference data, not a conditional in the application.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Application — the compliance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39</a:t>
            </a:r>
          </a:p>
        </p:txBody>
      </p:sp>
      <p:pic>
        <p:nvPicPr>
          <p:cNvPr id="5" name="Picture 4" descr="ss-09-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43" y="1188720"/>
            <a:ext cx="7607808" cy="475488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The eighteen invariants with their current status, the open surveillance alerts with the evidence behind each, and the operational actions. Reachable only by a user whose role in identity.app_user is compliance or admin.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Testing and Results —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40</a:t>
            </a:r>
          </a:p>
        </p:txBody>
      </p:sp>
      <p:pic>
        <p:nvPicPr>
          <p:cNvPr id="5" name="Picture 4" descr="fig-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972" y="1115568"/>
            <a:ext cx="9429750" cy="5029200"/>
          </a:xfrm>
          <a:prstGeom prst="rect">
            <a:avLst/>
          </a:prstGeom>
          <a:ln w="9525">
            <a:solidFill>
              <a:srgbClr val="D8DEE6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5A6676"/>
                </a:solidFill>
                <a:latin typeface="Calibri"/>
              </a:rPr>
              <a:t>Total demand exactly equals available supply, so both an overfill and an underfill would be visible in the result.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Testing and Results — four independent suites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They check different things on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88720"/>
            <a:ext cx="11091672" cy="384048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2710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710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What it exercises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2710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11091672" cy="420624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17373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0B2B5B"/>
                </a:solidFill>
                <a:latin typeface="Consolas"/>
              </a:rPr>
              <a:t>db/test  (5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7373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Ledger, engine, risk, currency and crypto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7373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E7C55"/>
                </a:solidFill>
                <a:latin typeface="Calibri"/>
              </a:rPr>
              <a:t>150 assertions passed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17627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0B2B5B"/>
                </a:solidFill>
                <a:latin typeface="Consolas"/>
              </a:rPr>
              <a:t>db/test/concurrency.sh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1762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12 sessions × 25 orders against one resting 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17627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E7C55"/>
                </a:solidFill>
                <a:latin typeface="Calibri"/>
              </a:rPr>
              <a:t>Passed, no double fill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523744"/>
            <a:ext cx="11091672" cy="420624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261518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0B2B5B"/>
                </a:solidFill>
                <a:latin typeface="Consolas"/>
              </a:rPr>
              <a:t>scripts/api_smoke.py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261518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Every REST path, authorisation and error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61518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E7C55"/>
                </a:solidFill>
                <a:latin typeface="Calibri"/>
              </a:rPr>
              <a:t>118 checks passed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05409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0B2B5B"/>
                </a:solidFill>
                <a:latin typeface="Consolas"/>
              </a:rPr>
              <a:t>scripts/ui_check.py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305409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Browser rendering of all seven screens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0540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E7C55"/>
                </a:solidFill>
                <a:latin typeface="Calibri"/>
              </a:rPr>
              <a:t>51 checks passed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01568"/>
            <a:ext cx="11091672" cy="420624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34930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0B2B5B"/>
                </a:solidFill>
                <a:latin typeface="Consolas"/>
              </a:rPr>
              <a:t>ops.health_check()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349300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Eighteen structural invariants, on live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4930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0E7C55"/>
                </a:solidFill>
                <a:latin typeface="Calibri"/>
              </a:rPr>
              <a:t>18 of 18 reporting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77639"/>
            <a:ext cx="5440680" cy="23012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 suite   | passed | failed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676"/>
                </a:solidFill>
                <a:latin typeface="Consolas"/>
              </a:rPr>
              <a:t>----------+--------+--------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crypto   |     31 |      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currency |     32 |      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engine   |     32 |      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ledger   |     16 |      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risk     |     39 |      0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(5 rows)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A2332"/>
                </a:solidFill>
                <a:latin typeface="Consolas"/>
              </a:rPr>
              <a:t>all 150 assertions passed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3977639"/>
            <a:ext cx="5440680" cy="1960371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18872" tIns="118872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          check_name            |  status   |                  deta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676"/>
                </a:solidFill>
                <a:latin typeface="Consolas"/>
              </a:rPr>
              <a:t>---------------------------------+-----------+----------------------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open_critical_alerts            | ATTENTION | 1 open critical alert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balance_cache_matches_journal   | PASS      | 0 drifted slot(s)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bands_contain_their_books       | PASS      | every price band stil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closed_system_conservation      | PASS      | 0 non-conserved asset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copy_queue_backlog              | PASS      | 5 unprocessed fan-out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every_book_has_a_quote          | PASS      | all 24 books are quot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every_cash_posting_has_currency | PASS      | 0 posting(s) without 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every_entry_balances            | PASS      | 0 unbalanced entry/en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A2332"/>
                </a:solidFill>
                <a:latin typeface="Consolas"/>
              </a:rPr>
              <a:t> filled_orders_have_fills        | PASS      | 0 order(s) marked fil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630936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A6676"/>
                </a:solidFill>
                <a:latin typeface="Calibri"/>
              </a:rPr>
              <a:t>The one ATTENTION row is the surveillance scanner doing its work: a wash trade was found and the alert is open.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What was learnt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247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FE0FF"/>
                </a:solidFill>
                <a:latin typeface="Calibri"/>
              </a:rPr>
              <a:t>Three defects, one shape: no error message, only a wrong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91672" cy="1554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444751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B9770E"/>
                </a:solidFill>
                <a:latin typeface="Calibri"/>
              </a:rPr>
              <a:t>Every view bypassed Row Level Security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A view runs as its owner, and a table owner is exempt from its own policies. The policies were correct and the data was exposed anyway.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E7C55"/>
                </a:solidFill>
                <a:latin typeface="Calibri"/>
              </a:rPr>
              <a:t>Fix: security_invoker.  Guard: ops.assert_rls_intact().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53512"/>
            <a:ext cx="11091672" cy="1554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3118104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B9770E"/>
                </a:solidFill>
                <a:latin typeface="Calibri"/>
              </a:rPr>
              <a:t>The candle roller destroyed backfilled history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build_candles_1m rebuilt every bucket in its window from ticks — correct for live minutes, destructive for months loaded from the provider.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E7C55"/>
                </a:solidFill>
                <a:latin typeface="Calibri"/>
              </a:rPr>
              <a:t>Fix: candle_1m.source.  Guard: history_is_marked_backfill.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26864"/>
            <a:ext cx="11091672" cy="1554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791456"/>
            <a:ext cx="1042416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 i="0">
                <a:solidFill>
                  <a:srgbClr val="B9770E"/>
                </a:solidFill>
                <a:latin typeface="Calibri"/>
              </a:rPr>
              <a:t>The test suite reported green while checking less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A2332"/>
                </a:solidFill>
                <a:latin typeface="Calibri"/>
              </a:rPr>
              <a:t>A type mismatch inside one helper raised an error that psql swallowed because ON_ERROR_STOP was not set.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E7C55"/>
                </a:solidFill>
                <a:latin typeface="Calibri"/>
              </a:rPr>
              <a:t>Fix: the cast.  Guard: test.sh now fails on any error psql reports.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327648"/>
            <a:ext cx="11091672" cy="4572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64008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B5B"/>
                </a:solidFill>
                <a:latin typeface="Calibri"/>
              </a:rPr>
              <a:t>In all three cases the correctness became something the database asserts, rather than something the authors remember.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A2332"/>
                </a:solidFill>
                <a:latin typeface="Calibri"/>
              </a:rPr>
              <a:t>Apex Trader is a complete, working trading system in which the database is not a store behind the application but the application itself. The service tier validates request shape and emits JSON; every rule that matters is below it, where a second client is subject to it without reimplementing any of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5440680" cy="11887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252374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6FEB"/>
                </a:solidFill>
                <a:latin typeface="Calibri"/>
              </a:rPr>
              <a:t>In-database matching with price-time priority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The book is correct under concurrency because the database serialises access to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377440"/>
            <a:ext cx="5440680" cy="11887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73952" y="252374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6FEB"/>
                </a:solidFill>
                <a:latin typeface="Calibri"/>
              </a:rPr>
              <a:t>Double-entry ledger with derived balances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A balance cannot drift from its history, because the history is the balance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03320"/>
            <a:ext cx="5440680" cy="11887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384962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6FEB"/>
                </a:solidFill>
                <a:latin typeface="Calibri"/>
              </a:rPr>
              <a:t>Deferred zero-sum constraint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Value can move between accounts but can never be created or destroyed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703320"/>
            <a:ext cx="5440680" cy="11887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73952" y="384962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6FEB"/>
                </a:solidFill>
                <a:latin typeface="Calibri"/>
              </a:rPr>
              <a:t>Row Level Security with security_invoker views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A forgotten predicate returns nothing rather than another trader’s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5440680" cy="11887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" y="517550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6FEB"/>
                </a:solidFill>
                <a:latin typeface="Calibri"/>
              </a:rPr>
              <a:t>Declarative partitioning and a deliberate index strategy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The chart query opens one month of 442,000 rows in well under a millisecond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5029200"/>
            <a:ext cx="5440680" cy="118872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73952" y="5175504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 i="0">
                <a:solidFill>
                  <a:srgbClr val="1F6FEB"/>
                </a:solidFill>
                <a:latin typeface="Calibri"/>
              </a:rPr>
              <a:t>Eighteen invariants checked on live data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676"/>
                </a:solidFill>
                <a:latin typeface="Calibri"/>
              </a:rPr>
              <a:t>Defects that produce no error message are still detected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Future Enhancement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44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11091672" cy="384048"/>
          </a:xfrm>
          <a:prstGeom prst="roundRect">
            <a:avLst>
              <a:gd name="adj" fmla="val 5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3167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Enhancement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3167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82496"/>
            <a:ext cx="11091672" cy="640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B5B"/>
                </a:solidFill>
                <a:latin typeface="Calibri"/>
              </a:rPr>
              <a:t>Logical replication to a read replica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82880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Route analytics and chart reads to a replica; the write path is already one function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8716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B5B"/>
                </a:solidFill>
                <a:latin typeface="Calibri"/>
              </a:rPr>
              <a:t>Continuous aggregates for candles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48716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Replace the scheduled rollup with an incrementally maintained aggregate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99232"/>
            <a:ext cx="11091672" cy="640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68680" y="3145536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B5B"/>
                </a:solidFill>
                <a:latin typeface="Calibri"/>
              </a:rPr>
              <a:t>Options and futures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145536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Reference data already models tick size, lot size and contract metadata; the ledger needs a third asset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03904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B5B"/>
                </a:solidFill>
                <a:latin typeface="Calibri"/>
              </a:rPr>
              <a:t>Settlement cycles (T+1)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803904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The journal already carries occurred_at; a settlement date and a pending-settlement account complete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15968"/>
            <a:ext cx="11091672" cy="640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8680" y="4462272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B5B"/>
                </a:solidFill>
                <a:latin typeface="Calibri"/>
              </a:rPr>
              <a:t>Order-book depth beyond top of book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462272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The resting-order index already supports it; only aggregation and transport are missing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1206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B5B"/>
                </a:solidFill>
                <a:latin typeface="Calibri"/>
              </a:rPr>
              <a:t>Partition detachment to cold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512064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ops.detach_old_partitions exists; the remaining work is archival and restore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32704"/>
            <a:ext cx="11091672" cy="6400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68680" y="5779008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B2B5B"/>
                </a:solidFill>
                <a:latin typeface="Calibri"/>
              </a:rPr>
              <a:t>Formal isolation testing with pgbench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779008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1A2332"/>
                </a:solidFill>
                <a:latin typeface="Calibri"/>
              </a:rPr>
              <a:t>Extend the concurrency proof to serialisation anomalies under REPEATABLE READ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382512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5A6676"/>
                </a:solidFill>
                <a:latin typeface="Calibri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[1]  </a:t>
            </a:r>
            <a:r>
              <a:rPr sz="1400">
                <a:solidFill>
                  <a:srgbClr val="1A2332"/>
                </a:solidFill>
                <a:latin typeface="Calibri"/>
              </a:rPr>
              <a:t>Elmasri, R. and Navathe, S. B., Fundamentals of Database Systems, 7th ed., Pearson, 2016.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[2]  </a:t>
            </a:r>
            <a:r>
              <a:rPr sz="1400">
                <a:solidFill>
                  <a:srgbClr val="1A2332"/>
                </a:solidFill>
                <a:latin typeface="Calibri"/>
              </a:rPr>
              <a:t>Silberschatz, A., Korth, H. F. and Sudarshan, S., Database System Concepts, 7th ed., McGraw-Hill, 2019.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[3]  </a:t>
            </a:r>
            <a:r>
              <a:rPr sz="1400">
                <a:solidFill>
                  <a:srgbClr val="1A2332"/>
                </a:solidFill>
                <a:latin typeface="Calibri"/>
              </a:rPr>
              <a:t>Date, C. J., An Introduction to Database Systems, 8th ed., Addison-Wesley, 2003.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[4]  </a:t>
            </a:r>
            <a:r>
              <a:rPr sz="1400">
                <a:solidFill>
                  <a:srgbClr val="1A2332"/>
                </a:solidFill>
                <a:latin typeface="Calibri"/>
              </a:rPr>
              <a:t>Codd, E. F., "A Relational Model of Data for Large Shared Data Banks", CACM 13(6), 1970.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[5]  </a:t>
            </a:r>
            <a:r>
              <a:rPr sz="1400">
                <a:solidFill>
                  <a:srgbClr val="1A2332"/>
                </a:solidFill>
                <a:latin typeface="Calibri"/>
              </a:rPr>
              <a:t>Codd, E. F., "Recent Investigations into Relational Data Base Systems", IFIP Congress, 1974.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[6]  </a:t>
            </a:r>
            <a:r>
              <a:rPr sz="1400">
                <a:solidFill>
                  <a:srgbClr val="1A2332"/>
                </a:solidFill>
                <a:latin typeface="Calibri"/>
              </a:rPr>
              <a:t>Kleppmann, M., Designing Data-Intensive Applications, O’Reilly, 2017.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[7]  </a:t>
            </a:r>
            <a:r>
              <a:rPr sz="1400">
                <a:solidFill>
                  <a:srgbClr val="1A2332"/>
                </a:solidFill>
                <a:latin typeface="Calibri"/>
              </a:rPr>
              <a:t>PostgreSQL 16 Documentation — Row Security Policies, Table Partitioning, CREATE TRIGGER, SET CONSTRAINTS, Advisory Locks, BRIN and GIN indexes, pgcrypto.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[8]  </a:t>
            </a:r>
            <a:r>
              <a:rPr sz="1400">
                <a:solidFill>
                  <a:srgbClr val="1A2332"/>
                </a:solidFill>
                <a:latin typeface="Calibri"/>
              </a:rPr>
              <a:t>Harris, L., Trading and Exchanges: Market Microstructure for Practitioners, OUP, 2003.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[9]  </a:t>
            </a:r>
            <a:r>
              <a:rPr sz="1400">
                <a:solidFill>
                  <a:srgbClr val="1A2332"/>
                </a:solidFill>
                <a:latin typeface="Calibri"/>
              </a:rPr>
              <a:t>Johnson, B., Algorithmic Trading and DMA, 4Myeloma Press, 2010.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[10]  </a:t>
            </a:r>
            <a:r>
              <a:rPr sz="1400">
                <a:solidFill>
                  <a:srgbClr val="1A2332"/>
                </a:solidFill>
                <a:latin typeface="Calibri"/>
              </a:rPr>
              <a:t>ISO 4217 Currency codes; ISO 6166 ISIN. FIX Protocol Specification 4.4.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[11]  </a:t>
            </a:r>
            <a:r>
              <a:rPr sz="1400">
                <a:solidFill>
                  <a:srgbClr val="1A2332"/>
                </a:solidFill>
                <a:latin typeface="Calibri"/>
              </a:rPr>
              <a:t>SEBI, Master Circular on Surveillance of Securities Market, 2023.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[12]  </a:t>
            </a:r>
            <a:r>
              <a:rPr sz="1400">
                <a:solidFill>
                  <a:srgbClr val="1A2332"/>
                </a:solidFill>
                <a:latin typeface="Calibri"/>
              </a:rPr>
              <a:t>FastAPI, asyncpg and TradingView Lightweight Charts documentation.</a:t>
            </a:r>
          </a:p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F6FEB"/>
                </a:solidFill>
                <a:latin typeface="Calibri"/>
              </a:rPr>
              <a:t>[13]  </a:t>
            </a:r>
            <a:r>
              <a:rPr sz="1400">
                <a:solidFill>
                  <a:srgbClr val="1A2332"/>
                </a:solidFill>
                <a:latin typeface="Calibri"/>
              </a:rPr>
              <a:t>Yahoo Finance market data endpoints, accessed October 2026.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100584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60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Aft>
                <a:spcPts val="1000"/>
              </a:spcAft>
            </a:pPr>
            <a:r>
              <a:rPr sz="2000" b="0" i="0">
                <a:solidFill>
                  <a:srgbClr val="CFE0FF"/>
                </a:solidFill>
                <a:latin typeface="Calibri"/>
              </a:rPr>
              <a:t>Apex Trader  —  BCSE302P Database Systems Lab</a:t>
            </a:r>
          </a:p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Kumar Paritosh  ·  Samrender Singh Saini  ·  Vartika Chaudhary</a:t>
            </a:r>
          </a:p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CFE0FF"/>
                </a:solidFill>
                <a:latin typeface="Calibri"/>
              </a:rPr>
              <a:t>Under the guidance of Prof. Nithya N 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